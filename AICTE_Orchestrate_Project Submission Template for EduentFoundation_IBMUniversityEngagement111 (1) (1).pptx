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79" r:id="rId8"/>
    <p:sldId id="290" r:id="rId9"/>
    <p:sldId id="291" r:id="rId10"/>
    <p:sldId id="292" r:id="rId11"/>
    <p:sldId id="262" r:id="rId12"/>
    <p:sldId id="264"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ujalss5/summarise_agen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543566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800" dirty="0"/>
                        <a:t>SUDDALA SUJAL</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600" dirty="0"/>
                        <a:t>suddalasujal@gmail.com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400" dirty="0"/>
                        <a:t>9347899783</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Education</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t>Course Content Simplification Agent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0DCA0DD0-A321-F01A-C458-C176006F511C}"/>
              </a:ext>
            </a:extLst>
          </p:cNvPr>
          <p:cNvPicPr>
            <a:picLocks noChangeAspect="1"/>
          </p:cNvPicPr>
          <p:nvPr/>
        </p:nvPicPr>
        <p:blipFill>
          <a:blip r:embed="rId3"/>
          <a:stretch>
            <a:fillRect/>
          </a:stretch>
        </p:blipFill>
        <p:spPr>
          <a:xfrm>
            <a:off x="3851031" y="3560884"/>
            <a:ext cx="1377356" cy="12065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54267" y="1427871"/>
            <a:ext cx="10607040" cy="3970318"/>
          </a:xfrm>
          <a:prstGeom prst="rect">
            <a:avLst/>
          </a:prstGeom>
          <a:noFill/>
        </p:spPr>
        <p:txBody>
          <a:bodyPr wrap="square" rtlCol="0">
            <a:spAutoFit/>
          </a:bodyPr>
          <a:lstStyle/>
          <a:p>
            <a:r>
              <a:rPr lang="en-US" sz="2000" b="1" dirty="0"/>
              <a:t>The Challenge</a:t>
            </a:r>
          </a:p>
          <a:p>
            <a:r>
              <a:rPr lang="en-US" sz="1800" dirty="0"/>
              <a:t>Academic materials are often written with varying levels of complexity. </a:t>
            </a:r>
          </a:p>
          <a:p>
            <a:r>
              <a:rPr lang="en-US" sz="1800" dirty="0"/>
              <a:t>Beginners may struggle to understand advanced terminology and concepts. </a:t>
            </a:r>
          </a:p>
          <a:p>
            <a:r>
              <a:rPr lang="en-US" sz="1800" dirty="0"/>
              <a:t>The same content is not equally suitable for beginner, intermediate, and expert learners. </a:t>
            </a:r>
          </a:p>
          <a:p>
            <a:r>
              <a:rPr lang="en-US" sz="1800" dirty="0"/>
              <a:t>Students spend additional time searching for simpler explanations. </a:t>
            </a:r>
          </a:p>
          <a:p>
            <a:r>
              <a:rPr lang="en-US" sz="1800" dirty="0"/>
              <a:t>There is a need for an AI system that can adapt explanations according to learner proficiency. </a:t>
            </a:r>
          </a:p>
          <a:p>
            <a:endParaRPr lang="en-US" sz="1800" dirty="0"/>
          </a:p>
          <a:p>
            <a:r>
              <a:rPr lang="en-US" sz="2000" b="1" dirty="0"/>
              <a:t>The Objective</a:t>
            </a:r>
          </a:p>
          <a:p>
            <a:r>
              <a:rPr lang="en-US" sz="1600" b="1" dirty="0"/>
              <a:t>To Build an AI-powered Course Content Simplification Agent that:</a:t>
            </a:r>
            <a:endParaRPr lang="en-US" sz="1600" dirty="0"/>
          </a:p>
          <a:p>
            <a:r>
              <a:rPr lang="en-US" sz="1800" dirty="0"/>
              <a:t>Analyzes academic content. </a:t>
            </a:r>
          </a:p>
          <a:p>
            <a:r>
              <a:rPr lang="en-US" sz="1800" dirty="0"/>
              <a:t>Identifies the complexity of the material. </a:t>
            </a:r>
          </a:p>
          <a:p>
            <a:r>
              <a:rPr lang="en-US" sz="1800" dirty="0"/>
              <a:t>Reframes explanations according to learner proficiency. </a:t>
            </a:r>
          </a:p>
          <a:p>
            <a:r>
              <a:rPr lang="en-US" sz="1800" dirty="0"/>
              <a:t>Provides </a:t>
            </a:r>
            <a:r>
              <a:rPr lang="en-US" sz="1800" b="1" dirty="0"/>
              <a:t>Beginner, Intermediate, and Expert</a:t>
            </a:r>
            <a:r>
              <a:rPr lang="en-US" sz="1800" dirty="0"/>
              <a:t> level explanations. </a:t>
            </a:r>
          </a:p>
          <a:p>
            <a:r>
              <a:rPr lang="en-US" sz="1800" dirty="0"/>
              <a:t>Makes complex educational content easier to understand</a:t>
            </a:r>
            <a:r>
              <a:rPr lang="en-US" dirty="0"/>
              <a: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9227351" cy="584775"/>
          </a:xfrm>
          <a:prstGeom prst="rect">
            <a:avLst/>
          </a:prstGeom>
          <a:noFill/>
        </p:spPr>
        <p:txBody>
          <a:bodyPr wrap="square" rtlCol="0">
            <a:spAutoFit/>
          </a:bodyPr>
          <a:lstStyle/>
          <a:p>
            <a:r>
              <a:rPr lang="en-US" sz="3200" b="1" dirty="0"/>
              <a:t>Problem Statement </a:t>
            </a:r>
            <a:r>
              <a:rPr lang="en-US" sz="2400" b="1" dirty="0"/>
              <a:t>- </a:t>
            </a:r>
            <a:r>
              <a:rPr lang="en-IN" sz="2400" dirty="0"/>
              <a:t>Course Content Simplification Agent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r>
              <a:rPr lang="en-US" b="1" dirty="0"/>
              <a:t>Title:</a:t>
            </a:r>
          </a:p>
          <a:p>
            <a:r>
              <a:rPr lang="en-US" b="1" dirty="0"/>
              <a:t>AI-Powered Course Content Simplification Agent</a:t>
            </a:r>
            <a:endParaRPr lang="en-US" dirty="0"/>
          </a:p>
          <a:p>
            <a:r>
              <a:rPr lang="en-US" b="1" dirty="0"/>
              <a:t>The proposed solution is an AI-powered Course Content Simplification Agent built using IBM Bob, IBM watsonx.ai, and IBM Granite.</a:t>
            </a:r>
          </a:p>
          <a:p>
            <a:endParaRPr lang="en-US" dirty="0"/>
          </a:p>
          <a:p>
            <a:r>
              <a:rPr lang="en-US" b="1" dirty="0"/>
              <a:t>Content Analysis:</a:t>
            </a:r>
            <a:r>
              <a:rPr lang="en-US" dirty="0"/>
              <a:t> Extracts and analyzes academic content from uploaded documents. </a:t>
            </a:r>
          </a:p>
          <a:p>
            <a:endParaRPr lang="en-US" dirty="0"/>
          </a:p>
          <a:p>
            <a:r>
              <a:rPr lang="en-US" b="1" dirty="0"/>
              <a:t>RAG-Based Retrieval:</a:t>
            </a:r>
            <a:r>
              <a:rPr lang="en-US" dirty="0"/>
              <a:t> Retrieves relevant information from the provided learning material. </a:t>
            </a:r>
          </a:p>
          <a:p>
            <a:endParaRPr lang="en-US" dirty="0"/>
          </a:p>
          <a:p>
            <a:r>
              <a:rPr lang="en-US" b="1" dirty="0"/>
              <a:t>Granite-Powered Generation:</a:t>
            </a:r>
            <a:r>
              <a:rPr lang="en-US" dirty="0"/>
              <a:t> IBM Granite generates clear and concise explanations. </a:t>
            </a:r>
          </a:p>
          <a:p>
            <a:endParaRPr lang="en-US" dirty="0"/>
          </a:p>
          <a:p>
            <a:r>
              <a:rPr lang="en-US" b="1" dirty="0"/>
              <a:t>Learner Personalization:</a:t>
            </a:r>
            <a:r>
              <a:rPr lang="en-US" dirty="0"/>
              <a:t> Reframes content for </a:t>
            </a:r>
            <a:r>
              <a:rPr lang="en-US" b="1" dirty="0"/>
              <a:t>Beginner, Intermediate, and Expert</a:t>
            </a:r>
            <a:r>
              <a:rPr lang="en-US" dirty="0"/>
              <a:t> learners. </a:t>
            </a:r>
          </a:p>
          <a:p>
            <a:endParaRPr lang="en-US" dirty="0"/>
          </a:p>
          <a:p>
            <a:r>
              <a:rPr lang="en-US" b="1" dirty="0"/>
              <a:t>Simplified Output:</a:t>
            </a:r>
            <a:r>
              <a:rPr lang="en-US" dirty="0"/>
              <a:t> Converts complex academic concepts into easy-to-understand explanations. </a:t>
            </a:r>
          </a:p>
          <a:p>
            <a:endParaRPr lang="en-US" dirty="0"/>
          </a:p>
          <a:p>
            <a:r>
              <a:rPr lang="en-US" b="1" dirty="0"/>
              <a:t>Interactive Access:</a:t>
            </a:r>
            <a:r>
              <a:rPr lang="en-US" dirty="0"/>
              <a:t> Provides a web-based interface for uploading and processing course content. </a:t>
            </a:r>
          </a:p>
          <a:p>
            <a:endParaRPr lang="en-US" dirty="0"/>
          </a:p>
          <a:p>
            <a:r>
              <a:rPr lang="en-US" b="1" dirty="0"/>
              <a:t>Goal: Make complex academic content easier to understand without losing its core meaning.</a:t>
            </a:r>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139321"/>
          </a:xfrm>
          <a:prstGeom prst="rect">
            <a:avLst/>
          </a:prstGeom>
          <a:noFill/>
        </p:spPr>
        <p:txBody>
          <a:bodyPr wrap="square" lIns="91440" tIns="45720" rIns="91440" bIns="45720" numCol="2" rtlCol="0" anchor="t">
            <a:spAutoFit/>
          </a:bodyPr>
          <a:lstStyle/>
          <a:p>
            <a:pPr marL="342900" indent="-342900">
              <a:buFont typeface="Arial" panose="020B0604020202020204" pitchFamily="34" charset="0"/>
              <a:buChar char="•"/>
            </a:pPr>
            <a:r>
              <a:rPr lang="en-IN" sz="1800" b="1" dirty="0"/>
              <a:t>IBM Bob</a:t>
            </a:r>
            <a:r>
              <a:rPr lang="en-IN" sz="1800" dirty="0"/>
              <a:t> – Used for AI-assisted project development and implementation. </a:t>
            </a:r>
          </a:p>
          <a:p>
            <a:pPr marL="342900" indent="-342900">
              <a:buFont typeface="Arial" panose="020B0604020202020204" pitchFamily="34" charset="0"/>
              <a:buChar char="•"/>
            </a:pPr>
            <a:r>
              <a:rPr lang="en-IN" sz="1800" b="1" dirty="0"/>
              <a:t>IBM watsonx.ai</a:t>
            </a:r>
            <a:r>
              <a:rPr lang="en-IN" sz="1800" dirty="0"/>
              <a:t> – Platform used to access and integrate the Granite foundation model. </a:t>
            </a:r>
          </a:p>
          <a:p>
            <a:pPr marL="342900" indent="-342900">
              <a:buFont typeface="Arial" panose="020B0604020202020204" pitchFamily="34" charset="0"/>
              <a:buChar char="•"/>
            </a:pPr>
            <a:r>
              <a:rPr lang="en-IN" sz="1800" b="1" dirty="0"/>
              <a:t>IBM Granite</a:t>
            </a:r>
            <a:r>
              <a:rPr lang="en-IN" sz="1800" dirty="0"/>
              <a:t> – LLM used for understanding and simplifying academic content. </a:t>
            </a:r>
          </a:p>
          <a:p>
            <a:pPr marL="342900" indent="-342900">
              <a:buFont typeface="Arial" panose="020B0604020202020204" pitchFamily="34" charset="0"/>
              <a:buChar char="•"/>
            </a:pPr>
            <a:r>
              <a:rPr lang="en-IN" sz="1800" b="1" dirty="0"/>
              <a:t>Python</a:t>
            </a:r>
            <a:r>
              <a:rPr lang="en-IN" sz="1800" dirty="0"/>
              <a:t> – Backend development and PDF content processing. </a:t>
            </a:r>
          </a:p>
          <a:p>
            <a:pPr marL="342900" indent="-342900">
              <a:buFont typeface="Arial" panose="020B0604020202020204" pitchFamily="34" charset="0"/>
              <a:buChar char="•"/>
            </a:pPr>
            <a:r>
              <a:rPr lang="en-IN" sz="1800" b="1" dirty="0"/>
              <a:t>Flask</a:t>
            </a:r>
            <a:r>
              <a:rPr lang="en-IN" sz="1800" dirty="0"/>
              <a:t> – Lightweight web backend/API for the application. </a:t>
            </a:r>
          </a:p>
          <a:p>
            <a:pPr marL="342900" indent="-342900">
              <a:buFont typeface="Arial" panose="020B0604020202020204" pitchFamily="34" charset="0"/>
              <a:buChar char="•"/>
            </a:pPr>
            <a:r>
              <a:rPr lang="en-IN" sz="1800" b="1" dirty="0"/>
              <a:t>HTML/CSS/JavaScript</a:t>
            </a:r>
            <a:r>
              <a:rPr lang="en-IN" sz="1800" dirty="0"/>
              <a:t> – Frontend interface for PDF upload and displaying results. </a:t>
            </a:r>
          </a:p>
          <a:p>
            <a:pPr marL="342900" indent="-342900">
              <a:buFont typeface="Arial" panose="020B0604020202020204" pitchFamily="34" charset="0"/>
              <a:buChar char="•"/>
            </a:pPr>
            <a:r>
              <a:rPr lang="en-IN" sz="1800" b="1" dirty="0"/>
              <a:t>PDF Processing</a:t>
            </a:r>
            <a:r>
              <a:rPr lang="en-IN" sz="1800" dirty="0"/>
              <a:t> – Extracts text from uploaded academic PDF documents. </a:t>
            </a:r>
          </a:p>
          <a:p>
            <a:pPr marL="342900" indent="-342900">
              <a:buFont typeface="Arial" panose="020B0604020202020204" pitchFamily="34" charset="0"/>
              <a:buChar char="•"/>
            </a:pPr>
            <a:r>
              <a:rPr lang="en-IN" sz="1800" b="1" dirty="0"/>
              <a:t>Render</a:t>
            </a:r>
            <a:r>
              <a:rPr lang="en-IN" sz="1800" dirty="0"/>
              <a:t> – Cloud platform used to deploy the web application. </a:t>
            </a:r>
          </a:p>
          <a:p>
            <a:pPr marL="342900" indent="-342900">
              <a:buFont typeface="Arial" panose="020B0604020202020204" pitchFamily="34" charset="0"/>
              <a:buChar char="•"/>
            </a:pPr>
            <a:r>
              <a:rPr lang="en-IN" sz="1800" b="1" dirty="0"/>
              <a:t>Bottom line:</a:t>
            </a:r>
          </a:p>
          <a:p>
            <a:pPr marL="342900" indent="-342900">
              <a:buFont typeface="Arial" panose="020B0604020202020204" pitchFamily="34" charset="0"/>
              <a:buChar char="•"/>
            </a:pPr>
            <a:r>
              <a:rPr lang="en-IN" sz="1800" b="1" dirty="0"/>
              <a:t>IBM Granite + watsonx.ai + Python + Web Application</a:t>
            </a:r>
            <a:endParaRPr lang="en-IN" sz="18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Orchestrate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08981"/>
          </a:xfrm>
          <a:prstGeom prst="rect">
            <a:avLst/>
          </a:prstGeom>
          <a:noFill/>
        </p:spPr>
        <p:txBody>
          <a:bodyPr wrap="square" numCol="1" rtlCol="0">
            <a:spAutoFit/>
          </a:bodyPr>
          <a:lstStyle/>
          <a:p>
            <a:r>
              <a:rPr lang="en-US" sz="2000" b="1" dirty="0"/>
              <a:t>1) File Upload / Input Component              </a:t>
            </a:r>
            <a:br>
              <a:rPr lang="en-US" sz="2000" dirty="0"/>
            </a:br>
            <a:r>
              <a:rPr lang="en-US" sz="2000" dirty="0"/>
              <a:t>Allows users to upload academic PDF documents for processing.</a:t>
            </a:r>
          </a:p>
          <a:p>
            <a:r>
              <a:rPr lang="en-US" sz="2000" b="1" dirty="0"/>
              <a:t>2) PDF Text Extraction Component</a:t>
            </a:r>
            <a:br>
              <a:rPr lang="en-US" sz="2000" dirty="0"/>
            </a:br>
            <a:r>
              <a:rPr lang="en-US" sz="2000" dirty="0"/>
              <a:t>Extracts readable text from the uploaded course material.</a:t>
            </a:r>
          </a:p>
          <a:p>
            <a:r>
              <a:rPr lang="en-US" sz="2000" b="1" dirty="0"/>
              <a:t>3) IBM watsonx.ai Agent</a:t>
            </a:r>
            <a:br>
              <a:rPr lang="en-US" sz="2000" dirty="0"/>
            </a:br>
            <a:r>
              <a:rPr lang="en-US" sz="2000" dirty="0"/>
              <a:t>Processes the extracted content using IBM Granite to generate simplified explanations.</a:t>
            </a:r>
          </a:p>
          <a:p>
            <a:r>
              <a:rPr lang="en-US" sz="2000" b="1" dirty="0"/>
              <a:t>4) IBM Granite Model</a:t>
            </a:r>
            <a:br>
              <a:rPr lang="en-US" sz="2000" dirty="0"/>
            </a:br>
            <a:r>
              <a:rPr lang="en-US" sz="2000" dirty="0"/>
              <a:t>Provides natural-language understanding, summarization, and content simplification.</a:t>
            </a:r>
          </a:p>
          <a:p>
            <a:r>
              <a:rPr lang="en-US" sz="2000" b="1" dirty="0"/>
              <a:t>5) Web Output Component</a:t>
            </a:r>
            <a:br>
              <a:rPr lang="en-US" sz="2000" dirty="0"/>
            </a:br>
            <a:r>
              <a:rPr lang="en-US" sz="2000" dirty="0"/>
              <a:t>Displays the generated simplified content to the user through the web interface.</a:t>
            </a:r>
          </a:p>
          <a:p>
            <a:r>
              <a:rPr lang="en-US" sz="2000" b="1" dirty="0"/>
              <a:t>6) Render Deployment</a:t>
            </a:r>
            <a:br>
              <a:rPr lang="en-US" sz="2000" dirty="0"/>
            </a:br>
            <a:r>
              <a:rPr lang="en-US" sz="2000" dirty="0"/>
              <a:t>Hosts and provides access to the deployed web application.</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4" name="Picture 3">
            <a:extLst>
              <a:ext uri="{FF2B5EF4-FFF2-40B4-BE49-F238E27FC236}">
                <a16:creationId xmlns:a16="http://schemas.microsoft.com/office/drawing/2014/main" id="{8B728090-84BF-16DA-1DCA-9C19009B0497}"/>
              </a:ext>
            </a:extLst>
          </p:cNvPr>
          <p:cNvPicPr>
            <a:picLocks noChangeAspect="1"/>
          </p:cNvPicPr>
          <p:nvPr/>
        </p:nvPicPr>
        <p:blipFill>
          <a:blip r:embed="rId3"/>
          <a:stretch>
            <a:fillRect/>
          </a:stretch>
        </p:blipFill>
        <p:spPr>
          <a:xfrm>
            <a:off x="0" y="771746"/>
            <a:ext cx="12192000" cy="608625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4" name="Picture 3">
            <a:extLst>
              <a:ext uri="{FF2B5EF4-FFF2-40B4-BE49-F238E27FC236}">
                <a16:creationId xmlns:a16="http://schemas.microsoft.com/office/drawing/2014/main" id="{919B43D7-FC4D-03B1-3B24-D6AB8BD48040}"/>
              </a:ext>
            </a:extLst>
          </p:cNvPr>
          <p:cNvPicPr>
            <a:picLocks noChangeAspect="1"/>
          </p:cNvPicPr>
          <p:nvPr/>
        </p:nvPicPr>
        <p:blipFill>
          <a:blip r:embed="rId3"/>
          <a:stretch>
            <a:fillRect/>
          </a:stretch>
        </p:blipFill>
        <p:spPr>
          <a:xfrm>
            <a:off x="0" y="771746"/>
            <a:ext cx="12192000" cy="6086253"/>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Output Screenshot: </a:t>
            </a:r>
            <a:endParaRPr lang="en-US" dirty="0"/>
          </a:p>
        </p:txBody>
      </p:sp>
      <p:pic>
        <p:nvPicPr>
          <p:cNvPr id="4" name="Picture 3">
            <a:extLst>
              <a:ext uri="{FF2B5EF4-FFF2-40B4-BE49-F238E27FC236}">
                <a16:creationId xmlns:a16="http://schemas.microsoft.com/office/drawing/2014/main" id="{B80944E2-DAAD-2B17-37C2-781FD26A919B}"/>
              </a:ext>
            </a:extLst>
          </p:cNvPr>
          <p:cNvPicPr>
            <a:picLocks noChangeAspect="1"/>
          </p:cNvPicPr>
          <p:nvPr/>
        </p:nvPicPr>
        <p:blipFill>
          <a:blip r:embed="rId3"/>
          <a:stretch>
            <a:fillRect/>
          </a:stretch>
        </p:blipFill>
        <p:spPr>
          <a:xfrm>
            <a:off x="0" y="771747"/>
            <a:ext cx="12192000" cy="5748182"/>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Other Applicable Screenshots: </a:t>
            </a:r>
            <a:endParaRPr lang="en-US"/>
          </a:p>
        </p:txBody>
      </p:sp>
      <p:pic>
        <p:nvPicPr>
          <p:cNvPr id="5" name="Picture 4">
            <a:extLst>
              <a:ext uri="{FF2B5EF4-FFF2-40B4-BE49-F238E27FC236}">
                <a16:creationId xmlns:a16="http://schemas.microsoft.com/office/drawing/2014/main" id="{0C8207C2-F3E2-F566-E92E-308783DEB959}"/>
              </a:ext>
            </a:extLst>
          </p:cNvPr>
          <p:cNvPicPr>
            <a:picLocks noChangeAspect="1"/>
          </p:cNvPicPr>
          <p:nvPr/>
        </p:nvPicPr>
        <p:blipFill>
          <a:blip r:embed="rId3"/>
          <a:stretch>
            <a:fillRect/>
          </a:stretch>
        </p:blipFill>
        <p:spPr>
          <a:xfrm>
            <a:off x="613982" y="993531"/>
            <a:ext cx="7463410" cy="5284177"/>
          </a:xfrm>
          <a:prstGeom prst="rect">
            <a:avLst/>
          </a:prstGeom>
        </p:spPr>
      </p:pic>
      <p:sp>
        <p:nvSpPr>
          <p:cNvPr id="6" name="TextBox 5">
            <a:extLst>
              <a:ext uri="{FF2B5EF4-FFF2-40B4-BE49-F238E27FC236}">
                <a16:creationId xmlns:a16="http://schemas.microsoft.com/office/drawing/2014/main" id="{8CDF0497-4F55-40B5-9EC7-7C608FC13F42}"/>
              </a:ext>
            </a:extLst>
          </p:cNvPr>
          <p:cNvSpPr txBox="1"/>
          <p:nvPr/>
        </p:nvSpPr>
        <p:spPr>
          <a:xfrm>
            <a:off x="8559311" y="1169377"/>
            <a:ext cx="2316774" cy="523220"/>
          </a:xfrm>
          <a:prstGeom prst="rect">
            <a:avLst/>
          </a:prstGeom>
          <a:noFill/>
        </p:spPr>
        <p:txBody>
          <a:bodyPr wrap="square" rtlCol="0">
            <a:spAutoFit/>
          </a:bodyPr>
          <a:lstStyle/>
          <a:p>
            <a:r>
              <a:rPr lang="en-US" dirty="0"/>
              <a:t>DEPLOYED SUCCESSFULLY</a:t>
            </a:r>
            <a:endParaRPr lang="en-IN" dirty="0"/>
          </a:p>
        </p:txBody>
      </p:sp>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61186" y="314447"/>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sym typeface="Calibri"/>
              </a:rPr>
              <a:t>Orchestrate architecture blueprint</a:t>
            </a:r>
            <a:endParaRPr lang="en-US" sz="2400">
              <a:solidFill>
                <a:schemeClr val="dk1"/>
              </a:solidFill>
            </a:endParaRPr>
          </a:p>
        </p:txBody>
      </p:sp>
      <p:pic>
        <p:nvPicPr>
          <p:cNvPr id="4" name="Picture 3">
            <a:extLst>
              <a:ext uri="{FF2B5EF4-FFF2-40B4-BE49-F238E27FC236}">
                <a16:creationId xmlns:a16="http://schemas.microsoft.com/office/drawing/2014/main" id="{3CBB5E6C-1ECC-9979-4483-01620CCD9782}"/>
              </a:ext>
            </a:extLst>
          </p:cNvPr>
          <p:cNvPicPr>
            <a:picLocks noChangeAspect="1"/>
          </p:cNvPicPr>
          <p:nvPr/>
        </p:nvPicPr>
        <p:blipFill>
          <a:blip r:embed="rId3"/>
          <a:stretch>
            <a:fillRect/>
          </a:stretch>
        </p:blipFill>
        <p:spPr>
          <a:xfrm>
            <a:off x="837744" y="1107831"/>
            <a:ext cx="10516511" cy="44137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US" b="1" dirty="0"/>
              <a:t>Role of Agentic AI in Course Content Simplification Agent</a:t>
            </a:r>
            <a:endParaRPr lang="en-US" dirty="0"/>
          </a:p>
          <a:p>
            <a:r>
              <a:rPr lang="en-US" b="1" dirty="0"/>
              <a:t>Agentic AI</a:t>
            </a:r>
            <a:r>
              <a:rPr lang="en-US" dirty="0"/>
              <a:t> enables the system to process academic content intelligently and generate simplified explanations based on the user's learning needs.</a:t>
            </a:r>
          </a:p>
          <a:p>
            <a:r>
              <a:rPr lang="en-US" b="1" dirty="0"/>
              <a:t>Content Understanding:</a:t>
            </a:r>
            <a:r>
              <a:rPr lang="en-US" dirty="0"/>
              <a:t> Analyzes uploaded academic PDF content and identifies important concepts. </a:t>
            </a:r>
          </a:p>
          <a:p>
            <a:r>
              <a:rPr lang="en-US" b="1" dirty="0"/>
              <a:t>Intelligent Processing:</a:t>
            </a:r>
            <a:r>
              <a:rPr lang="en-US" dirty="0"/>
              <a:t> Uses </a:t>
            </a:r>
            <a:r>
              <a:rPr lang="en-US" b="1" dirty="0"/>
              <a:t>IBM watsonx.ai and IBM Granite</a:t>
            </a:r>
            <a:r>
              <a:rPr lang="en-US" dirty="0"/>
              <a:t> to understand and transform complex educational content. </a:t>
            </a:r>
          </a:p>
          <a:p>
            <a:r>
              <a:rPr lang="en-US" b="1" dirty="0"/>
              <a:t>Task Execution:</a:t>
            </a:r>
            <a:r>
              <a:rPr lang="en-US" dirty="0"/>
              <a:t> Performs content extraction, analysis, summarization, and simplification as part of the workflow. </a:t>
            </a:r>
          </a:p>
          <a:p>
            <a:r>
              <a:rPr lang="en-US" b="1" dirty="0"/>
              <a:t>Learner Adaptation:</a:t>
            </a:r>
            <a:r>
              <a:rPr lang="en-US" dirty="0"/>
              <a:t> Can structure explanations according to </a:t>
            </a:r>
            <a:r>
              <a:rPr lang="en-US" b="1" dirty="0"/>
              <a:t>Beginner, Intermediate, or Expert</a:t>
            </a:r>
            <a:r>
              <a:rPr lang="en-US" dirty="0"/>
              <a:t> proficiency levels. </a:t>
            </a:r>
          </a:p>
          <a:p>
            <a:r>
              <a:rPr lang="en-US" b="1" dirty="0"/>
              <a:t>Context-Aware Generation:</a:t>
            </a:r>
            <a:r>
              <a:rPr lang="en-US" dirty="0"/>
              <a:t> Maintains the key meaning of the original material while producing clearer explanations. </a:t>
            </a:r>
          </a:p>
          <a:p>
            <a:r>
              <a:rPr lang="en-US" b="1" dirty="0"/>
              <a:t>Goal-Oriented Output:</a:t>
            </a:r>
            <a:r>
              <a:rPr lang="en-US" dirty="0"/>
              <a:t> Produces concise, easy-to-understand educational content instead of simply returning the original text. </a:t>
            </a:r>
          </a:p>
          <a:p>
            <a:r>
              <a:rPr lang="en-US" b="1" dirty="0"/>
              <a:t>Overall:</a:t>
            </a:r>
            <a:r>
              <a:rPr lang="en-US" dirty="0"/>
              <a:t> Agentic AI makes the solution </a:t>
            </a:r>
            <a:r>
              <a:rPr lang="en-US" b="1" dirty="0"/>
              <a:t>intelligent, adaptive, and goal-oriented</a:t>
            </a:r>
            <a:r>
              <a:rPr lang="en-US" dirty="0"/>
              <a:t>, helping learners understand complex academic material more easily.</a:t>
            </a:r>
          </a:p>
        </p:txBody>
      </p:sp>
      <p:pic>
        <p:nvPicPr>
          <p:cNvPr id="1026" name="Picture 2" descr="The Role of AI in Modern Robotics : Unveiling the Power of Intelligent  Machines - Amtec Solutions Group">
            <a:extLst>
              <a:ext uri="{FF2B5EF4-FFF2-40B4-BE49-F238E27FC236}">
                <a16:creationId xmlns:a16="http://schemas.microsoft.com/office/drawing/2014/main" id="{1618B799-4F3E-D039-78F5-1536447C3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907" y="868239"/>
            <a:ext cx="4215179" cy="5276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16755" y="449463"/>
            <a:ext cx="7123176" cy="461665"/>
          </a:xfrm>
          <a:prstGeom prst="rect">
            <a:avLst/>
          </a:prstGeom>
          <a:noFill/>
        </p:spPr>
        <p:txBody>
          <a:bodyPr wrap="square" rtlCol="0">
            <a:spAutoFit/>
          </a:bodyPr>
          <a:lstStyle/>
          <a:p>
            <a:r>
              <a:rPr lang="en-US" sz="2400" b="1" u="sng" dirty="0"/>
              <a:t>Novelty and Uniqueness</a:t>
            </a:r>
            <a:endParaRPr lang="en-IN" sz="2400" b="1" u="sng"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28832" y="1031161"/>
            <a:ext cx="11301984" cy="6124754"/>
          </a:xfrm>
          <a:prstGeom prst="rect">
            <a:avLst/>
          </a:prstGeom>
          <a:noFill/>
        </p:spPr>
        <p:txBody>
          <a:bodyPr wrap="square" rtlCol="0">
            <a:spAutoFit/>
          </a:bodyPr>
          <a:lstStyle/>
          <a:p>
            <a:r>
              <a:rPr lang="en-US" sz="1800" dirty="0"/>
              <a:t>The proposed </a:t>
            </a:r>
            <a:r>
              <a:rPr lang="en-US" sz="1800" b="1" dirty="0"/>
              <a:t>Course Content Simplification Agent</a:t>
            </a:r>
            <a:r>
              <a:rPr lang="en-US" sz="1800" dirty="0"/>
              <a:t> stands out by using </a:t>
            </a:r>
            <a:r>
              <a:rPr lang="en-US" sz="1800" b="1" dirty="0"/>
              <a:t>IBM Granite and AI-powered content processing</a:t>
            </a:r>
            <a:r>
              <a:rPr lang="en-US" sz="1800" dirty="0"/>
              <a:t> to transform complex academic material into concise and easy-to-understand explanations.</a:t>
            </a:r>
          </a:p>
          <a:p>
            <a:r>
              <a:rPr lang="en-US" sz="1800" b="1" dirty="0"/>
              <a:t>Academic Content Simplification</a:t>
            </a:r>
            <a:r>
              <a:rPr lang="en-US" sz="1800" dirty="0"/>
              <a:t> – Converts complex educational material into clear, concise explanations while preserving the core meaning.</a:t>
            </a:r>
          </a:p>
          <a:p>
            <a:r>
              <a:rPr lang="en-US" sz="1800" b="1" dirty="0"/>
              <a:t>Granite-Powered Intelligence</a:t>
            </a:r>
            <a:r>
              <a:rPr lang="en-US" sz="1800" dirty="0"/>
              <a:t> – Uses </a:t>
            </a:r>
            <a:r>
              <a:rPr lang="en-US" sz="1800" b="1" dirty="0"/>
              <a:t>IBM Granite through watsonx.ai</a:t>
            </a:r>
            <a:r>
              <a:rPr lang="en-US" sz="1800" dirty="0"/>
              <a:t> for natural-language understanding and generation.</a:t>
            </a:r>
          </a:p>
          <a:p>
            <a:r>
              <a:rPr lang="en-US" sz="1800" b="1" dirty="0"/>
              <a:t>PDF-Based Processing</a:t>
            </a:r>
            <a:r>
              <a:rPr lang="en-US" sz="1800" dirty="0"/>
              <a:t> – Accepts academic PDF documents and extracts their textual content for intelligent processing.</a:t>
            </a:r>
          </a:p>
          <a:p>
            <a:r>
              <a:rPr lang="en-US" sz="1800" b="1" dirty="0"/>
              <a:t>Context-Aware Summarization</a:t>
            </a:r>
            <a:r>
              <a:rPr lang="en-US" sz="1800" dirty="0"/>
              <a:t> – Generates summaries based on the actual content provided by the learner rather than generic explanations.</a:t>
            </a:r>
          </a:p>
          <a:p>
            <a:r>
              <a:rPr lang="en-US" sz="1800" b="1" dirty="0"/>
              <a:t>Learner-Friendly Output</a:t>
            </a:r>
            <a:r>
              <a:rPr lang="en-US" sz="1800" dirty="0"/>
              <a:t> – Presents important concepts in a structured, readable format that reduces unnecessary complexity.</a:t>
            </a:r>
          </a:p>
          <a:p>
            <a:r>
              <a:rPr lang="en-US" sz="1800" b="1" dirty="0"/>
              <a:t>Automated Processing</a:t>
            </a:r>
            <a:r>
              <a:rPr lang="en-US" sz="1800" dirty="0"/>
              <a:t> – Combines document processing and AI generation into a single workflow, reducing manual effort.</a:t>
            </a:r>
          </a:p>
          <a:p>
            <a:r>
              <a:rPr lang="en-US" sz="1800" b="1" dirty="0"/>
              <a:t>Web-Based Accessibility</a:t>
            </a:r>
            <a:r>
              <a:rPr lang="en-US" sz="1800" dirty="0"/>
              <a:t> – Provides a simple interface where users can upload academic material and receive simplified content.</a:t>
            </a:r>
          </a:p>
          <a:p>
            <a:r>
              <a:rPr lang="en-US" sz="1800" b="1" dirty="0"/>
              <a:t>Cloud Deployment</a:t>
            </a:r>
            <a:r>
              <a:rPr lang="en-US" sz="1800" dirty="0"/>
              <a:t> – The solution is deployed as a web application, making the agent accessible through the internet.</a:t>
            </a:r>
          </a:p>
          <a:p>
            <a:r>
              <a:rPr lang="en-US" sz="1800" b="1" dirty="0"/>
              <a:t>Overall:</a:t>
            </a:r>
            <a:r>
              <a:rPr lang="en-US" sz="1800" dirty="0"/>
              <a:t> The solution provides a </a:t>
            </a:r>
            <a:r>
              <a:rPr lang="en-US" sz="1800" b="1" dirty="0"/>
              <a:t>simple, intelligent, and accessible approach to making complex academic content easier to understand.</a:t>
            </a:r>
            <a:endParaRPr lang="en-US"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t>GitHub Repository:</a:t>
            </a:r>
          </a:p>
          <a:p>
            <a:pPr lvl="0">
              <a:lnSpc>
                <a:spcPct val="162162"/>
              </a:lnSpc>
              <a:buClr>
                <a:srgbClr val="2B3541"/>
              </a:buClr>
              <a:buSzPts val="1850"/>
            </a:pPr>
            <a:r>
              <a:rPr lang="en-IN" sz="2000" dirty="0">
                <a:hlinkClick r:id="rId3"/>
              </a:rPr>
              <a:t>https://github.com/Sujalss5/summarise_agent</a:t>
            </a:r>
            <a:endParaRPr lang="en-IN" sz="2000" dirty="0"/>
          </a:p>
          <a:p>
            <a:pPr lvl="0">
              <a:lnSpc>
                <a:spcPct val="162162"/>
              </a:lnSpc>
              <a:buClr>
                <a:srgbClr val="2B3541"/>
              </a:buClr>
              <a:buSzPts val="1850"/>
            </a:pPr>
            <a:endParaRPr lang="en-IN"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14156" y="48303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ym typeface="Times New Roman"/>
              </a:rPr>
              <a:t>Future Scope </a:t>
            </a:r>
            <a:endParaRPr sz="2400" b="1" u="sng"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08770" y="1393947"/>
            <a:ext cx="9214580" cy="4419790"/>
          </a:xfrm>
          <a:prstGeom prst="rect">
            <a:avLst/>
          </a:prstGeom>
          <a:noFill/>
          <a:ln>
            <a:noFill/>
          </a:ln>
        </p:spPr>
        <p:txBody>
          <a:bodyPr spcFirstLastPara="1" wrap="square" lIns="0" tIns="0" rIns="0" bIns="0" anchor="t" anchorCtr="0">
            <a:noAutofit/>
          </a:bodyPr>
          <a:lstStyle/>
          <a:p>
            <a:pPr marL="457200" indent="-457200">
              <a:buAutoNum type="arabicPeriod"/>
            </a:pPr>
            <a:r>
              <a:rPr lang="en-US" sz="2000" b="1" u="sng" dirty="0"/>
              <a:t>AI-Powered Voice Assistant &amp; Multilingual Support </a:t>
            </a:r>
            <a:r>
              <a:rPr lang="en-US" sz="2000" b="1" dirty="0"/>
              <a:t>–</a:t>
            </a:r>
            <a:br>
              <a:rPr lang="en-US" sz="2000" dirty="0"/>
            </a:br>
            <a:r>
              <a:rPr lang="en-US" sz="2000" dirty="0"/>
              <a:t>The system can be enhanced with </a:t>
            </a:r>
            <a:r>
              <a:rPr lang="en-US" sz="2000" b="1" dirty="0"/>
              <a:t>voice interaction and multilingual support</a:t>
            </a:r>
            <a:r>
              <a:rPr lang="en-US" sz="2000" dirty="0"/>
              <a:t>, allowing students to ask questions and receive simplified explanations in their preferred language. This will improve accessibility and make the Course Content Simplification Agent more useful for learners from diverse linguistic backgrounds.</a:t>
            </a:r>
          </a:p>
          <a:p>
            <a:pPr marL="457200" indent="-457200">
              <a:buAutoNum type="arabicPeriod"/>
            </a:pPr>
            <a:endParaRPr lang="en-US" sz="2000" dirty="0"/>
          </a:p>
          <a:p>
            <a:pPr marL="457200" indent="-457200">
              <a:buAutoNum type="arabicPeriod"/>
            </a:pPr>
            <a:endParaRPr lang="en-US" sz="2000" dirty="0"/>
          </a:p>
          <a:p>
            <a:r>
              <a:rPr lang="en-US" sz="2000" b="1" dirty="0"/>
              <a:t>2.   </a:t>
            </a:r>
            <a:r>
              <a:rPr lang="en-US" sz="2000" b="1" u="sng" dirty="0"/>
              <a:t>Interactive Personalized Learning </a:t>
            </a:r>
            <a:r>
              <a:rPr lang="en-US" sz="2000" b="1" dirty="0"/>
              <a:t>–</a:t>
            </a:r>
            <a:br>
              <a:rPr lang="en-US" sz="2000" dirty="0"/>
            </a:br>
            <a:r>
              <a:rPr lang="en-US" sz="2000" dirty="0"/>
              <a:t>      The agent can be extended to provide </a:t>
            </a:r>
            <a:r>
              <a:rPr lang="en-US" sz="2000" b="1" dirty="0"/>
              <a:t>personalized explanations,      examples, follow-up questions, and quizzes</a:t>
            </a:r>
            <a:r>
              <a:rPr lang="en-US" sz="2000" dirty="0"/>
              <a:t> based on the learner’s proficiency level. This will help students move beyond simple summarization and use the system as an </a:t>
            </a:r>
            <a:r>
              <a:rPr lang="en-US" sz="2000" b="1" dirty="0"/>
              <a:t>interactive AI learning assistant</a:t>
            </a:r>
            <a:r>
              <a:rPr lang="en-US" sz="20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59725FAF-889F-5415-C63A-3C77BBC1A4E7}"/>
              </a:ext>
            </a:extLst>
          </p:cNvPr>
          <p:cNvPicPr>
            <a:picLocks noChangeAspect="1"/>
          </p:cNvPicPr>
          <p:nvPr/>
        </p:nvPicPr>
        <p:blipFill>
          <a:blip r:embed="rId2"/>
          <a:stretch>
            <a:fillRect/>
          </a:stretch>
        </p:blipFill>
        <p:spPr>
          <a:xfrm>
            <a:off x="448409" y="624254"/>
            <a:ext cx="9694162" cy="593683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9" name="Picture 8">
            <a:extLst>
              <a:ext uri="{FF2B5EF4-FFF2-40B4-BE49-F238E27FC236}">
                <a16:creationId xmlns:a16="http://schemas.microsoft.com/office/drawing/2014/main" id="{304482B6-FA32-7D29-87D8-D447E92C2FAB}"/>
              </a:ext>
            </a:extLst>
          </p:cNvPr>
          <p:cNvPicPr>
            <a:picLocks noChangeAspect="1"/>
          </p:cNvPicPr>
          <p:nvPr/>
        </p:nvPicPr>
        <p:blipFill>
          <a:blip r:embed="rId2"/>
          <a:stretch>
            <a:fillRect/>
          </a:stretch>
        </p:blipFill>
        <p:spPr>
          <a:xfrm>
            <a:off x="431669" y="650631"/>
            <a:ext cx="9921891" cy="620736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1043</Words>
  <Application>Microsoft Office PowerPoint</Application>
  <PresentationFormat>Widescreen</PresentationFormat>
  <Paragraphs>108</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Sujal SS5</cp:lastModifiedBy>
  <cp:revision>100</cp:revision>
  <dcterms:created xsi:type="dcterms:W3CDTF">2025-07-08T05:06:56Z</dcterms:created>
  <dcterms:modified xsi:type="dcterms:W3CDTF">2026-09-11T17:27:12Z</dcterms:modified>
</cp:coreProperties>
</file>